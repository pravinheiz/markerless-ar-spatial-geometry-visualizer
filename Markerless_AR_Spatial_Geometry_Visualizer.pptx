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Welcome to the presentation of Markerless AR Spatial Geometry Visualizer. This project brings touchless, gesture-driven 3D CAD and spatial geometry analysis directly into modern web browsers.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Traditional spatial modeling is constrained by 2D screens, while VR headsets are too costly. Our project removes both obstacles.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CCFF"/>
                </a:solidFill>
                <a:latin typeface="Arial"/>
              </a:defRPr>
            </a:pPr>
            <a:r>
              <a:t>OPEN PROJECT LAB DEMONSTRATION // ASSIGNMENT SUBMISSION</a:t>
            </a:r>
          </a:p>
          <a:p>
            <a:pPr>
              <a:defRPr sz="3600" b="1">
                <a:solidFill>
                  <a:srgbClr val="00FF88"/>
                </a:solidFill>
                <a:latin typeface="Arial"/>
              </a:defRPr>
            </a:pPr>
            <a:r>
              <a:t>Markerless AR Spatial Geometry Visualizer</a:t>
            </a:r>
          </a:p>
          <a:p>
            <a:pPr>
              <a:defRPr sz="1600">
                <a:solidFill>
                  <a:srgbClr val="A0B4CD"/>
                </a:solidFill>
                <a:latin typeface="Arial"/>
              </a:defRPr>
            </a:pPr>
            <a:r>
              <a:t>Next-Generation Browser-Based Touchless 3D Holographic Modeling &amp;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3291840" cy="25603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🖐️ Markerless Computer Vision</a:t>
            </a:r>
          </a:p>
          <a:p>
            <a:br/>
            <a:pPr>
              <a:defRPr sz="1200">
                <a:solidFill>
                  <a:srgbClr val="A0B4CD"/>
                </a:solidFill>
                <a:latin typeface="Arial"/>
              </a:defRPr>
            </a:pPr>
            <a:r>
              <a:t>Real-time 21-keypoint 3D hand tracking powered by client-side MediaPipe ML neural network (60 FPS, zero hardware).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474720"/>
            <a:ext cx="3291840" cy="25603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✨ 6-DOF Tony Stark Control</a:t>
            </a:r>
          </a:p>
          <a:p>
            <a:br/>
            <a:pPr>
              <a:defRPr sz="1200">
                <a:solidFill>
                  <a:srgbClr val="A0B4CD"/>
                </a:solidFill>
                <a:latin typeface="Arial"/>
              </a:defRPr>
            </a:pPr>
            <a:r>
              <a:t>True mid-air freeform 3D wrist-tilt orientation (Pitch, Yaw, Roll) &amp; dual-hand Iron Man pinch zoom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474720"/>
            <a:ext cx="3291840" cy="25603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📊 Live Spatial Telemetry HUD</a:t>
            </a:r>
          </a:p>
          <a:p>
            <a:br/>
            <a:pPr>
              <a:defRPr sz="1200">
                <a:solidFill>
                  <a:srgbClr val="A0B4CD"/>
                </a:solidFill>
                <a:latin typeface="Arial"/>
              </a:defRPr>
            </a:pPr>
            <a:r>
              <a:t>Real-time geometric computation of Volume (V), Surface Area (A), Euler topology, and 2-hand laser ruler distance.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THE PROBLEM &amp; ACADEMIC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Overcoming the 2D Flatland Barrier in Spatial Computing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🖥️ 2D Screen Constraint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Traditional CAD and geometry visualization tools force 3D volumetric ideas onto flat 2D monitors, creating significant cognitive friction in spatial comprehension.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🥽 Costly AR/VR Hardware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Dedicated headsets (Apple Vision Pro, Meta Quest 3, HoloLens) cost $500–$3,500, creating severe accessibility barriers for schools, students, and researchers.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⚙️ Fiducial Marker Friction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Conventional marker-based AR depends on printed paper QR codes or ArUco tags, restricting natural hand mobility and freeform mid-air interaction.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INNOVATIVE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Markerless Web-AR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🌐 Universal Web Accessibility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Runs natively in any modern browser via Three.js (WebGL) and MediaPipe (WebAssembly) with zero software installation, plugins, or driver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⚡ Sub-20ms Real-Time Vision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Client-side neural network tracking processes 21 3D hand keypoints per hand at a smooth 60 FPS, ensuring zero perceivable input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🎯 Anti-Jitter Hysteresis Filter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Temporal exponential smoothing filter eliminates hand tremor and prevents accidental drawing triggers when waving hands in front of the camera.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Three-Tiered Synchronous Render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CCFF"/>
                </a:solidFill>
                <a:latin typeface="Arial"/>
              </a:defRPr>
            </a:pPr>
            <a:r>
              <a:t>LAYER 2: Holographic HUD Canvas</a:t>
            </a:r>
          </a:p>
          <a:p>
            <a:pPr>
              <a:defRPr sz="1200">
                <a:solidFill>
                  <a:srgbClr val="A0B4CD"/>
                </a:solidFill>
                <a:latin typeface="Arial"/>
              </a:defRPr>
            </a:pPr>
            <a:r>
              <a:t>Renders glowing skeletal joints, Oculus Quest index fingertip cursor, and 2-hand laser measurement telemetry overlays.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28016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F88"/>
                </a:solidFill>
                <a:latin typeface="Arial"/>
              </a:defRPr>
            </a:pPr>
            <a:r>
              <a:t>LAYER 1: Three.js 3D WebGL Canvas</a:t>
            </a:r>
          </a:p>
          <a:p>
            <a:pPr>
              <a:defRPr sz="1200">
                <a:solidFill>
                  <a:srgbClr val="A0B4CD"/>
                </a:solidFill>
                <a:latin typeface="Arial"/>
              </a:defRPr>
            </a:pPr>
            <a:r>
              <a:t>Transparent 3D scene managing lighting, shadow mapping, Catmull-Rom tube ribbons, shader materials, and raycasting.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28655" cy="128016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CCFF"/>
                </a:solidFill>
                <a:latin typeface="Arial"/>
              </a:defRPr>
            </a:pPr>
            <a:r>
              <a:t>LAYER 0: Webcam Video Stream</a:t>
            </a:r>
          </a:p>
          <a:p>
            <a:pPr>
              <a:defRPr sz="1200">
                <a:solidFill>
                  <a:srgbClr val="A0B4CD"/>
                </a:solidFill>
                <a:latin typeface="Arial"/>
              </a:defRPr>
            </a:pPr>
            <a:r>
              <a:t>Mirrored scaleX(-1) background stream with calibrated coordinate mapping to Three.js Normalized Device Coordinates.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NATURAL USER INTERACTION (NUI)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Tony Stark 6-DOF &amp; Oculus Quest Gesture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✊ 6-DOF Wrist Orientation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Pitch (wrist-to-finger tilt), Yaw (lateral angle), and Roll (thumb-to-pinky twist) rotate active 3D holograms in mid-air without predefined buttons.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🤏🤏 Iron Man Dual Zoom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Pinch both hands and spread apart to expand/zoom holograms up to 5.0x; bring hands together to shrink/zoom out seamlessly.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🖐️ Oculus UI Touch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Index fingertip projects an optical cursor. Hovering over UI buttons highlights them; pinching clicks buttons with synthesized audio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CREATIVE SPATIAL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Oculus / Samsung AR 3D Painting &amp; Extrusion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🎨 Volumetric Tube Ribbons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Pinching in 3D Paint mode generates continuous, smooth Catmull-Rom tube geometries in spatial depth rather than flat 2D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🌈 6-Color Shader Palette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Paint with Neon Green, Cyan, Electric Purple, Gold, Hot Pink, and Pure White across Hologram, Glass, Metal, and Neon shaders.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✨ 2-Hand Spline Extrusion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Two-hand vertical separation gesture automatically inflates 2D hand-sketched profiles into solid 3D spatial tube meshes.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MATHEMATICAL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Live Spatial Geometry Analytics HUD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  <a:latin typeface="Arial"/>
              </a:defRPr>
            </a:pPr>
            <a:r>
              <a:t>Volume (V): V = ∭ dV (Exact for Platonic solids, cylinders, cones, toruses, and mesh tetrahedrons)</a:t>
            </a:r>
          </a:p>
          <a:p>
            <a:pPr>
              <a:defRPr sz="1150">
                <a:solidFill>
                  <a:srgbClr val="A0B4CD"/>
                </a:solidFill>
                <a:latin typeface="Arial"/>
              </a:defRPr>
            </a:pPr>
            <a:r>
              <a:t>Purpose: Volumetric capacity and material weight estimation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  <a:latin typeface="Arial"/>
              </a:defRPr>
            </a:pPr>
            <a:r>
              <a:t>Surface Area (A): A = ∬ dA (Sum of all indexed triangular face areas)</a:t>
            </a:r>
          </a:p>
          <a:p>
            <a:pPr>
              <a:defRPr sz="1150">
                <a:solidFill>
                  <a:srgbClr val="A0B4CD"/>
                </a:solidFill>
                <a:latin typeface="Arial"/>
              </a:defRPr>
            </a:pPr>
            <a:r>
              <a:t>Purpose: Surface coating, material cost, and heat dissipation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  <a:latin typeface="Arial"/>
              </a:defRPr>
            </a:pPr>
            <a:r>
              <a:t>Bounding Box: ΔX × ΔY × ΔZ via THREE.BoxHelper dynamic projection</a:t>
            </a:r>
          </a:p>
          <a:p>
            <a:pPr>
              <a:defRPr sz="1150">
                <a:solidFill>
                  <a:srgbClr val="A0B4CD"/>
                </a:solidFill>
                <a:latin typeface="Arial"/>
              </a:defRPr>
            </a:pPr>
            <a:r>
              <a:t>Purpose: Clearance checking, spatial envelope, and packaging sizing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F88"/>
                </a:solidFill>
                <a:latin typeface="Arial"/>
              </a:defRPr>
            </a:pPr>
            <a:r>
              <a:t>Euler Topology: V - E + F = 2 (Vertices, Edges, Faces counter)</a:t>
            </a:r>
          </a:p>
          <a:p>
            <a:pPr>
              <a:defRPr sz="1150">
                <a:solidFill>
                  <a:srgbClr val="A0B4CD"/>
                </a:solidFill>
                <a:latin typeface="Arial"/>
              </a:defRPr>
            </a:pPr>
            <a:r>
              <a:t>Purpose: Topological integrity analysis and mesh complexity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MEASUREMENT &amp;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AR Dual-Hand Laser Distance Ruler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📏 3D Laser Dimension Line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Projects a glowing AR dashed laser beam connecting the index fingertips of both hands in 3D spatial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📟 Real-Time Telemetry Pill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Floating HUD overlay displays instant Euclidean metric distance readout in meters (e.g. DIST: 0.48 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🎯 Sub-Centimeter Accuracy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Transforms normalized camera depth into calibrated physical spatial units with high precision.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Real-World Industry &amp; Academic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🎓 STEM &amp; Math Education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Transforms abstract 3D calculus, geometry, and vector physics into tangible, interactive mid-air learning objects for classrooms.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🏭 Rapid CAD Prototyping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Allows industrial designers and engineers to conceptualize volumetric 3D concepts in seconds before exporting to CAD suites.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CFF"/>
                </a:solidFill>
                <a:latin typeface="Arial"/>
              </a:defRPr>
            </a:pPr>
            <a:r>
              <a:t>🩺 Sterile Medical Visualization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Enables surgeons and medical students to manipulate 3D anatomical organ models and CT scans in touchless sterile environments.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Arial"/>
              </a:defRPr>
            </a:pPr>
            <a:r>
              <a:t>SUMMARY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Future of Touchless Web-Based Spatial 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☁️ GLTF / OBJ Model Export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One-click 3D model download pipeline allowing hand-drawn spatial geometry to be exported directly to 3D printing slicers.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👥 Multi-User WebRTC AR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Real-time multi-peer collaboration allowing distributed teams to co-design in the same holographic 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88"/>
                </a:solidFill>
                <a:latin typeface="Arial"/>
              </a:defRPr>
            </a:pPr>
            <a:r>
              <a:t>🚀 WebXR Headset Integration</a:t>
            </a:r>
          </a:p>
          <a:p>
            <a:br/>
            <a:pPr>
              <a:defRPr sz="1300">
                <a:solidFill>
                  <a:srgbClr val="A0B4CD"/>
                </a:solidFill>
                <a:latin typeface="Arial"/>
              </a:defRPr>
            </a:pPr>
            <a:r>
              <a:t>Seamless cross-compatibility bridging desktop webcams to Meta Quest 3, Apple Vision Pro, and mobile 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